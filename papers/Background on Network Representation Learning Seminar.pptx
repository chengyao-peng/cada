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Lora"/>
      <p:regular r:id="rId21"/>
      <p:bold r:id="rId22"/>
      <p:italic r:id="rId23"/>
      <p:boldItalic r:id="rId24"/>
    </p:embeddedFont>
    <p:embeddedFont>
      <p:font typeface="Spectral"/>
      <p:regular r:id="rId25"/>
      <p:bold r:id="rId26"/>
      <p:italic r:id="rId27"/>
      <p:boldItalic r:id="rId28"/>
    </p:embeddedFont>
    <p:embeddedFont>
      <p:font typeface="Merriweather Black"/>
      <p:bold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ora-bold.fntdata"/><Relationship Id="rId21" Type="http://schemas.openxmlformats.org/officeDocument/2006/relationships/font" Target="fonts/Lora-regular.fntdata"/><Relationship Id="rId24" Type="http://schemas.openxmlformats.org/officeDocument/2006/relationships/font" Target="fonts/Lora-boldItalic.fntdata"/><Relationship Id="rId23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pectral-bold.fntdata"/><Relationship Id="rId25" Type="http://schemas.openxmlformats.org/officeDocument/2006/relationships/font" Target="fonts/Spectral-regular.fntdata"/><Relationship Id="rId28" Type="http://schemas.openxmlformats.org/officeDocument/2006/relationships/font" Target="fonts/Spectral-boldItalic.fntdata"/><Relationship Id="rId27" Type="http://schemas.openxmlformats.org/officeDocument/2006/relationships/font" Target="fonts/Spectral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erriweatherBla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erriweather-regular.fntdata"/><Relationship Id="rId30" Type="http://schemas.openxmlformats.org/officeDocument/2006/relationships/font" Target="fonts/MerriweatherBlack-boldItalic.fntdata"/><Relationship Id="rId11" Type="http://schemas.openxmlformats.org/officeDocument/2006/relationships/slide" Target="slides/slide7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6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4f813cdd19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4f813cdd19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4f813cdd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4f813cdd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f813cdd1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f813cdd1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f813cdd19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f813cdd1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f813cdd1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f813cdd1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f813cdd1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f813cdd1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f813cdd1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f813cdd1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f813cdd1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f813cdd1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f813cdd1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f813cdd1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f813cdd19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f813cdd19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f813cdd19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f813cdd19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f813cdd1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f813cdd1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f813cdd19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f813cdd19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TransD adds constraints to TransR to simplify the math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f813cdd1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f813cdd1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TransD adds constraints to TransR to simplify the math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f813cdd19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f813cdd19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092500" y="735775"/>
            <a:ext cx="4959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Font typeface="Merriweather Black"/>
              <a:buNone/>
              <a:defRPr sz="4000"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b="1"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437600" y="1410825"/>
            <a:ext cx="6268800" cy="25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  <a:defRPr sz="1600"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317500" lvl="1" marL="9144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○"/>
              <a:defRPr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317500" lvl="2" marL="13716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■"/>
              <a:defRPr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317500" lvl="3" marL="18288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●"/>
              <a:defRPr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317500" lvl="4" marL="22860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○"/>
              <a:defRPr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317500" lvl="5" marL="27432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■"/>
              <a:defRPr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317500" lvl="6" marL="32004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●"/>
              <a:defRPr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317500" lvl="7" marL="365760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1400"/>
              <a:buFont typeface="Merriweather"/>
              <a:buChar char="○"/>
              <a:defRPr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317500" lvl="8" marL="4114800">
              <a:lnSpc>
                <a:spcPct val="115000"/>
              </a:lnSpc>
              <a:spcBef>
                <a:spcPts val="2200"/>
              </a:spcBef>
              <a:spcAft>
                <a:spcPts val="2200"/>
              </a:spcAft>
              <a:buSzPts val="1400"/>
              <a:buFont typeface="Merriweather"/>
              <a:buChar char="■"/>
              <a:defRPr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ly/background-on-nr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xkcd.com/1838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118100" y="781525"/>
            <a:ext cx="6907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on Network Representation Learning</a:t>
            </a:r>
            <a:endParaRPr/>
          </a:p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Presented by Charles Tapley Hoyt</a:t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February 12</a:t>
            </a:r>
            <a:r>
              <a:rPr baseline="30000" lang="en" sz="1800"/>
              <a:t>th</a:t>
            </a:r>
            <a:r>
              <a:rPr lang="en" sz="1800"/>
              <a:t>, 2019</a:t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Download from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http://bit.ly/background-on-nrl</a:t>
            </a:r>
            <a:endParaRPr sz="1800"/>
          </a:p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075" y="152400"/>
            <a:ext cx="409386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/>
          <p:nvPr/>
        </p:nvSpPr>
        <p:spPr>
          <a:xfrm rot="-829967">
            <a:off x="664128" y="325206"/>
            <a:ext cx="2171993" cy="5122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Lora"/>
                <a:ea typeface="Lora"/>
                <a:cs typeface="Lora"/>
                <a:sym typeface="Lora"/>
              </a:rPr>
              <a:t>Disclaimer!</a:t>
            </a:r>
            <a:endParaRPr b="1" sz="2400">
              <a:solidFill>
                <a:srgbClr val="FF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4" name="Google Shape;44;p9"/>
          <p:cNvSpPr txBox="1"/>
          <p:nvPr/>
        </p:nvSpPr>
        <p:spPr>
          <a:xfrm>
            <a:off x="0" y="4881200"/>
            <a:ext cx="3000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ora"/>
                <a:ea typeface="Lora"/>
                <a:cs typeface="Lora"/>
                <a:sym typeface="Lora"/>
              </a:rPr>
              <a:t>Image from </a:t>
            </a:r>
            <a:r>
              <a:rPr lang="en" sz="8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"/>
              </a:rPr>
              <a:t>https://xkcd.com/1838/</a:t>
            </a:r>
            <a:endParaRPr sz="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437600" y="1639425"/>
            <a:ext cx="6268800" cy="25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Generate dense embeddings for 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vertices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and edges in a directed multigraph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G = (V, E)</a:t>
            </a:r>
            <a:endParaRPr b="1" baseline="30000"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Solve three main tasks: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AutoNum type="arabicPeriod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Clustering / Do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wnstream Machine Learning Tasks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AutoNum type="arabicPeriod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Link Prediction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AutoNum type="arabicPeriod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Entity Disambiguatio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n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Models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668700" y="1639425"/>
            <a:ext cx="39204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Random Walk Models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DeepWalk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Gat2Vec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Node2Vec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Translational Distance Models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Unstructured Model (UM)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Structured Embedding (SE)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TransE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54900" y="1639425"/>
            <a:ext cx="39204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Semantic Matching Models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RESCAL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DistMult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Lora"/>
              <a:buChar char="●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Neural Network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Models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EMRLP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○"/>
            </a:pPr>
            <a:r>
              <a:rPr lang="en" sz="1600">
                <a:latin typeface="Lora"/>
                <a:ea typeface="Lora"/>
                <a:cs typeface="Lora"/>
                <a:sym typeface="Lora"/>
              </a:rPr>
              <a:t>ConvE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Walk Models</a:t>
            </a:r>
            <a:endParaRPr/>
          </a:p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DeepWalk Algorithm [2]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1437600" y="1639425"/>
            <a:ext cx="6268800" cy="25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Generate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γ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random walks starting at each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v ∈ V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Train a SkipGram model [1] with window size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w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and dimension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d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using 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vertices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as "words" and walks as "sentences"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Recall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: SkipGram is a language model that maximizes the co-occurrence probability of words in the same window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Caveat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: This model does not generate embeddings for edges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DeepWalk Results</a:t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651" y="1624222"/>
            <a:ext cx="4686700" cy="17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110950" y="3557400"/>
            <a:ext cx="4922100" cy="12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ora"/>
              <a:buChar char="●"/>
            </a:pPr>
            <a:r>
              <a:rPr lang="en" sz="1400">
                <a:latin typeface="Lora"/>
                <a:ea typeface="Lora"/>
                <a:cs typeface="Lora"/>
                <a:sym typeface="Lora"/>
              </a:rPr>
              <a:t>The goal of DeepWalk was to generate embeddings that preserve the community structure in graphs</a:t>
            </a:r>
            <a:endParaRPr sz="1400">
              <a:latin typeface="Lora"/>
              <a:ea typeface="Lora"/>
              <a:cs typeface="Lora"/>
              <a:sym typeface="Lor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ora"/>
              <a:buChar char="●"/>
            </a:pPr>
            <a:r>
              <a:rPr lang="en" sz="1400">
                <a:latin typeface="Lora"/>
                <a:ea typeface="Lora"/>
                <a:cs typeface="Lora"/>
                <a:sym typeface="Lora"/>
              </a:rPr>
              <a:t>Obviously useful for clustering</a:t>
            </a:r>
            <a:endParaRPr sz="1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0" y="4827300"/>
            <a:ext cx="30000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ora"/>
                <a:ea typeface="Lora"/>
                <a:cs typeface="Lora"/>
                <a:sym typeface="Lora"/>
              </a:rPr>
              <a:t>Image from [2] </a:t>
            </a:r>
            <a:r>
              <a:rPr lang="en" sz="800">
                <a:latin typeface="Lora"/>
                <a:ea typeface="Lora"/>
                <a:cs typeface="Lora"/>
                <a:sym typeface="Lora"/>
              </a:rPr>
              <a:t>Perozzi </a:t>
            </a:r>
            <a:r>
              <a:rPr i="1" lang="en" sz="8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800">
                <a:latin typeface="Lora"/>
                <a:ea typeface="Lora"/>
                <a:cs typeface="Lora"/>
                <a:sym typeface="Lora"/>
              </a:rPr>
              <a:t>, (2014)</a:t>
            </a:r>
            <a:endParaRPr sz="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Gat2Vec</a:t>
            </a:r>
            <a:r>
              <a:rPr lang="en"/>
              <a:t> Algorithm [3]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1437600" y="1639425"/>
            <a:ext cx="6268800" cy="26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Given: an attributed graph </a:t>
            </a:r>
            <a:r>
              <a:rPr b="1" lang="en">
                <a:latin typeface="Spectral"/>
                <a:ea typeface="Spectral"/>
                <a:cs typeface="Spectral"/>
                <a:sym typeface="Spectral"/>
              </a:rPr>
              <a:t>G = (V, E, F)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, attributes </a:t>
            </a:r>
            <a:r>
              <a:rPr b="1" lang="en">
                <a:latin typeface="Spectral"/>
                <a:ea typeface="Spectral"/>
                <a:cs typeface="Spectral"/>
                <a:sym typeface="Spectral"/>
              </a:rPr>
              <a:t>A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, and attribution function </a:t>
            </a:r>
            <a:r>
              <a:rPr b="1" lang="en">
                <a:latin typeface="Spectral"/>
                <a:ea typeface="Spectral"/>
                <a:cs typeface="Spectral"/>
                <a:sym typeface="Spectral"/>
              </a:rPr>
              <a:t>F: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 </a:t>
            </a:r>
            <a:r>
              <a:rPr b="1" lang="en">
                <a:latin typeface="Spectral"/>
                <a:ea typeface="Spectral"/>
                <a:cs typeface="Spectral"/>
                <a:sym typeface="Spectral"/>
              </a:rPr>
              <a:t>V ￫ 2</a:t>
            </a:r>
            <a:r>
              <a:rPr b="1" baseline="30000" lang="en">
                <a:latin typeface="Spectral"/>
                <a:ea typeface="Spectral"/>
                <a:cs typeface="Spectral"/>
                <a:sym typeface="Spectral"/>
              </a:rPr>
              <a:t>A</a:t>
            </a:r>
            <a:endParaRPr baseline="300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Append structural edges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{(v, a) | v ∈ V, a ∈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F(v)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}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to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G</a:t>
            </a:r>
            <a:endParaRPr b="1" baseline="-25000"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Generate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γ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 random walks starting at each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v ∈ V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Filter all </a:t>
            </a:r>
            <a:r>
              <a:rPr b="1" lang="en" sz="1800">
                <a:latin typeface="Spectral"/>
                <a:ea typeface="Spectral"/>
                <a:cs typeface="Spectral"/>
                <a:sym typeface="Spectral"/>
              </a:rPr>
              <a:t>a ∈ A 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from the walks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Train a SkipGram model as previously in DeepWalk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Gat2Vec Results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040900" y="3848100"/>
            <a:ext cx="50622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 sz="1400">
                <a:latin typeface="Lora"/>
                <a:ea typeface="Lora"/>
                <a:cs typeface="Lora"/>
                <a:sym typeface="Lora"/>
              </a:rPr>
              <a:t>While Gat2Vec was not more useful than Node2Vec for visualization, made improvements in classification and link </a:t>
            </a:r>
            <a:r>
              <a:rPr lang="en" sz="1400">
                <a:latin typeface="Lora"/>
                <a:ea typeface="Lora"/>
                <a:cs typeface="Lora"/>
                <a:sym typeface="Lora"/>
              </a:rPr>
              <a:t>prediction</a:t>
            </a:r>
            <a:r>
              <a:rPr lang="en" sz="1400">
                <a:latin typeface="Lora"/>
                <a:ea typeface="Lora"/>
                <a:cs typeface="Lora"/>
                <a:sym typeface="Lora"/>
              </a:rPr>
              <a:t> tasks in comparison</a:t>
            </a:r>
            <a:endParaRPr sz="1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250773" y="1535468"/>
            <a:ext cx="8642452" cy="2224958"/>
            <a:chOff x="796700" y="1680175"/>
            <a:chExt cx="5814352" cy="1356351"/>
          </a:xfrm>
        </p:grpSpPr>
        <p:pic>
          <p:nvPicPr>
            <p:cNvPr id="97" name="Google Shape;97;p16"/>
            <p:cNvPicPr preferRelativeResize="0"/>
            <p:nvPr/>
          </p:nvPicPr>
          <p:blipFill rotWithShape="1">
            <a:blip r:embed="rId3">
              <a:alphaModFix/>
            </a:blip>
            <a:srcRect b="51559" l="0" r="28000" t="884"/>
            <a:stretch/>
          </p:blipFill>
          <p:spPr>
            <a:xfrm>
              <a:off x="3215613" y="1680175"/>
              <a:ext cx="2418925" cy="1226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6"/>
            <p:cNvPicPr preferRelativeResize="0"/>
            <p:nvPr/>
          </p:nvPicPr>
          <p:blipFill rotWithShape="1">
            <a:blip r:embed="rId3">
              <a:alphaModFix/>
            </a:blip>
            <a:srcRect b="0" l="0" r="28000" t="47426"/>
            <a:stretch/>
          </p:blipFill>
          <p:spPr>
            <a:xfrm>
              <a:off x="796700" y="1680175"/>
              <a:ext cx="2418925" cy="1356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6"/>
            <p:cNvPicPr preferRelativeResize="0"/>
            <p:nvPr/>
          </p:nvPicPr>
          <p:blipFill rotWithShape="1">
            <a:blip r:embed="rId3">
              <a:alphaModFix/>
            </a:blip>
            <a:srcRect b="28813" l="72533" r="0" t="30427"/>
            <a:stretch/>
          </p:blipFill>
          <p:spPr>
            <a:xfrm>
              <a:off x="5688300" y="1767825"/>
              <a:ext cx="922752" cy="10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GuiltyTargets [4]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437600" y="1639425"/>
            <a:ext cx="62688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Annotate a PPI network from HIPPIE (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or STRING) </a:t>
            </a:r>
            <a:r>
              <a:rPr lang="en" sz="1800">
                <a:latin typeface="Lora"/>
                <a:ea typeface="Lora"/>
                <a:cs typeface="Lora"/>
                <a:sym typeface="Lora"/>
              </a:rPr>
              <a:t>with disease-specific differential gene expression 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Generate vertex embeddings with Gat2Vec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Train and evaluate a logistic regression classifier using disease-target annotations from OpenTargets (or TDD) as labels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50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Result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: outperformed state-of-the-art approach using topological feature engineering published by Emig </a:t>
            </a:r>
            <a:r>
              <a:rPr i="1" lang="en">
                <a:latin typeface="Lora"/>
                <a:ea typeface="Lora"/>
                <a:cs typeface="Lora"/>
                <a:sym typeface="Lora"/>
              </a:rPr>
              <a:t>et al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. [5]</a:t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Translational Distance Models</a:t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Unstructured Model (UM; 6)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437600" y="2400300"/>
            <a:ext cx="6268800" cy="19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All translation models have negative signs 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because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 the loss function maximizes the difference between positive and negative examples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Uses a distance-based scoring function between the head and tail entities that doesn't consider relationship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Best for homogenous graphs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081" y="1591626"/>
            <a:ext cx="3085828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Embedding (SE; 7)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1437600" y="2400300"/>
            <a:ext cx="6268800" cy="19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Adds two projection 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matrices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 for each relation </a:t>
            </a:r>
            <a:r>
              <a:rPr i="1" lang="en">
                <a:latin typeface="Lora"/>
                <a:ea typeface="Lora"/>
                <a:cs typeface="Lora"/>
                <a:sym typeface="Lora"/>
              </a:rPr>
              <a:t>r</a:t>
            </a:r>
            <a:r>
              <a:rPr lang="en">
                <a:latin typeface="Lora"/>
                <a:ea typeface="Lora"/>
                <a:cs typeface="Lora"/>
                <a:sym typeface="Lora"/>
              </a:rPr>
              <a:t> 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Differentiates the roles of head and tail entities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225" y="1617028"/>
            <a:ext cx="3643550" cy="4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TransE [8]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1437600" y="2400300"/>
            <a:ext cx="6268800" cy="19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Model the relation as a direct translation from head to tail entity like: </a:t>
            </a:r>
            <a:r>
              <a:rPr b="1" lang="en">
                <a:latin typeface="Spectral"/>
                <a:ea typeface="Spectral"/>
                <a:cs typeface="Spectral"/>
                <a:sym typeface="Spectral"/>
              </a:rPr>
              <a:t>h + r ≈ t</a:t>
            </a:r>
            <a:endParaRPr b="1">
              <a:latin typeface="Spectral"/>
              <a:ea typeface="Spectral"/>
              <a:cs typeface="Spectral"/>
              <a:sym typeface="Spectr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Limited in modeling 1-N, N-1, and N-M relationships. Solved in TransH [9] by representing relationships as hyperplanes.</a:t>
            </a:r>
            <a:endParaRPr>
              <a:latin typeface="Lora"/>
              <a:ea typeface="Lora"/>
              <a:cs typeface="Lora"/>
              <a:sym typeface="Lora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Font typeface="Lora"/>
              <a:buChar char="●"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TransR [10] uses different vector spaces for entities and relations and learns projection matrices jointly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588" y="1606174"/>
            <a:ext cx="3264825" cy="5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74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Remarks on Semantic Matching Models</a:t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437600" y="1639425"/>
            <a:ext cx="62688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Lora"/>
                <a:ea typeface="Lora"/>
                <a:cs typeface="Lora"/>
                <a:sym typeface="Lora"/>
              </a:rPr>
              <a:t>Focus on using similarity-based scoring functions.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RESCAL [11] represents entities with vectors and relations with matrices. DistMult [12] adds constraint that relations should be diagonal matrices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ERMLP [13] uses a multi-layer perceptron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ora"/>
              <a:buAutoNum type="arabicPeriod"/>
            </a:pPr>
            <a:r>
              <a:rPr lang="en" sz="1800">
                <a:latin typeface="Lora"/>
                <a:ea typeface="Lora"/>
                <a:cs typeface="Lora"/>
                <a:sym typeface="Lora"/>
              </a:rPr>
              <a:t>ConvE [14] uses full convolutional neural networks </a:t>
            </a:r>
            <a:endParaRPr sz="18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998200" y="842700"/>
            <a:ext cx="3453900" cy="4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Mikolov, T.,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(2013). Efficient Estimation of Word Representations in Vector Space, 1–12.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Perozzi, B.,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(2014). DeepWalk: Online Learning of Social Representations.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Sheikh, N.,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(2018). Gat2Vec: Representation Learning for Attributed Graphs. Computing, 1–23.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Muslu, Ö., Hoyt, C. T., Hofmann-Apitius, M., &amp; Fröhlich, H. (2019). GuiltyTargets: Prioritization of Novel Therapeutic Targets with Deep Network Representation Learning. BioRxiv, 1–14.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Emig, D.,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(2013). Drug Target Prediction and Repositioning Using an Integrated Network-Based Approach. PLoS ONE, 8(4).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Bordes, A.,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(2014)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A semantic matching energy function for learning with multi-relational data. Machine Learning 94(2), 233–259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Bordes, A.,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(2011)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Learning structured embeddings of knowledge bases. In: AAAI. vol. 6, p. 6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Font typeface="Lora"/>
              <a:buAutoNum type="arabicPeriod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Bordes, A.,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(2013)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Translating embeddings for modeling multi-relational data. In: Advances in Neural Information Processing Systems. pp. 2787–2795</a:t>
            </a:r>
            <a:endParaRPr sz="9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4691889" y="842700"/>
            <a:ext cx="3453900" cy="4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Wang, Z.,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(2014) Knowledge graph embedding by translating on hyperplanes. In: AAAI. pp. 1112–1119. Citeseer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Lin, Y.,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(2015) Learning entity and relation embeddings for knowledge graph completion. In: AAAI. vol. 15, pp. 2181–2187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Nickel, M.,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(2011) A three-way model for collective learning on multi-relational data. In: ICML. vol. 11, pp. 809–816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Yang, B.,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 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(2014) Embedding entities and relations for learning and inference in knowledge bases. arXiv preprint arXiv:1412.6575 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Dong, X.,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(2014) Knowledge vault: A web-scale approach to probabilistic knowledge fusion. In: Proceedings of the 20th ACM SIGKDD International Conference on Knowledge Discovery and Data Mining. pp. 601–610. ACM</a:t>
            </a:r>
            <a:endParaRPr sz="900">
              <a:latin typeface="Lora"/>
              <a:ea typeface="Lora"/>
              <a:cs typeface="Lora"/>
              <a:sym typeface="Lora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Font typeface="Lora"/>
              <a:buAutoNum type="arabicPeriod" startAt="9"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Dettmers, T., </a:t>
            </a:r>
            <a:r>
              <a:rPr i="1" lang="en" sz="900">
                <a:latin typeface="Lora"/>
                <a:ea typeface="Lora"/>
                <a:cs typeface="Lora"/>
                <a:sym typeface="Lora"/>
              </a:rPr>
              <a:t>et al.</a:t>
            </a:r>
            <a:r>
              <a:rPr lang="en" sz="900">
                <a:latin typeface="Lora"/>
                <a:ea typeface="Lora"/>
                <a:cs typeface="Lora"/>
                <a:sym typeface="Lora"/>
              </a:rPr>
              <a:t> (2017) Convolutional 2d knowledge graph embeddings. arXiv preprint arXiv:1707.01476 </a:t>
            </a:r>
            <a:endParaRPr sz="9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